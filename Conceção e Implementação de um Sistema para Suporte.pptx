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93EB2-7E74-468F-99AC-8D7B5AE7EF05}" type="datetimeFigureOut">
              <a:rPr lang="pt-PT" smtClean="0"/>
              <a:t>20/05/2025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25C7A-D2CF-424D-9284-7516696397F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78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A25C7A-D2CF-424D-9284-7516696397FE}" type="slidenum">
              <a:rPr lang="pt-PT" smtClean="0"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3009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2E47E-C99B-F69E-F18C-D6424FFE1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1176" y="118872"/>
            <a:ext cx="9207878" cy="1921762"/>
          </a:xfrm>
        </p:spPr>
        <p:txBody>
          <a:bodyPr>
            <a:normAutofit/>
          </a:bodyPr>
          <a:lstStyle/>
          <a:p>
            <a:r>
              <a:rPr lang="pt-BR" sz="4800" dirty="0"/>
              <a:t>Conceção e Implementação de um Sistema para Suporte à Decisão</a:t>
            </a:r>
            <a:endParaRPr lang="pt-PT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315F0-D212-2320-5A90-5F5526431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1409" y="3063240"/>
            <a:ext cx="6987645" cy="1388534"/>
          </a:xfrm>
        </p:spPr>
        <p:txBody>
          <a:bodyPr/>
          <a:lstStyle/>
          <a:p>
            <a:r>
              <a:rPr lang="pt-PT" dirty="0"/>
              <a:t>Afonso Magalhães pg53598</a:t>
            </a:r>
          </a:p>
          <a:p>
            <a:r>
              <a:rPr lang="pt-PT" dirty="0"/>
              <a:t>Inês Silva pg55949</a:t>
            </a:r>
          </a:p>
        </p:txBody>
      </p:sp>
    </p:spTree>
    <p:extLst>
      <p:ext uri="{BB962C8B-B14F-4D97-AF65-F5344CB8AC3E}">
        <p14:creationId xmlns:p14="http://schemas.microsoft.com/office/powerpoint/2010/main" val="335233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8EBF-A0C0-B725-8F22-1696DF808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166" y="1"/>
            <a:ext cx="10018713" cy="1124712"/>
          </a:xfrm>
        </p:spPr>
        <p:txBody>
          <a:bodyPr/>
          <a:lstStyle/>
          <a:p>
            <a:r>
              <a:rPr lang="pt-PT" dirty="0"/>
              <a:t>Contexto e Motivação do Projeto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5ED09E-817C-8DF0-AB59-2D6C0E0E84C8}"/>
              </a:ext>
            </a:extLst>
          </p:cNvPr>
          <p:cNvSpPr/>
          <p:nvPr/>
        </p:nvSpPr>
        <p:spPr>
          <a:xfrm>
            <a:off x="1627632" y="1687577"/>
            <a:ext cx="2286000" cy="42976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EasyFit</a:t>
            </a:r>
            <a:endParaRPr lang="pt-P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60D9F-F971-B3A9-25F6-2E1676AF5CBB}"/>
              </a:ext>
            </a:extLst>
          </p:cNvPr>
          <p:cNvSpPr txBox="1"/>
          <p:nvPr/>
        </p:nvSpPr>
        <p:spPr>
          <a:xfrm>
            <a:off x="4707827" y="1001602"/>
            <a:ext cx="2813924" cy="246221"/>
          </a:xfrm>
          <a:prstGeom prst="rect">
            <a:avLst/>
          </a:prstGeom>
          <a:noFill/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000" dirty="0">
                <a:solidFill>
                  <a:schemeClr val="tx1"/>
                </a:solidFill>
              </a:rPr>
              <a:t>Ginásio </a:t>
            </a:r>
            <a:r>
              <a:rPr lang="pt-PT" sz="1000" i="1" dirty="0" err="1">
                <a:solidFill>
                  <a:schemeClr val="tx1"/>
                </a:solidFill>
              </a:rPr>
              <a:t>beginner</a:t>
            </a:r>
            <a:r>
              <a:rPr lang="pt-PT" sz="1000" i="1" dirty="0">
                <a:solidFill>
                  <a:schemeClr val="tx1"/>
                </a:solidFill>
              </a:rPr>
              <a:t> </a:t>
            </a:r>
            <a:r>
              <a:rPr lang="pt-PT" sz="1000" i="1" dirty="0" err="1">
                <a:solidFill>
                  <a:schemeClr val="tx1"/>
                </a:solidFill>
              </a:rPr>
              <a:t>friendly</a:t>
            </a:r>
            <a:endParaRPr lang="pt-PT" sz="1000" i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CD642-517D-CB1A-28A2-D85E97D36B25}"/>
              </a:ext>
            </a:extLst>
          </p:cNvPr>
          <p:cNvSpPr txBox="1"/>
          <p:nvPr/>
        </p:nvSpPr>
        <p:spPr>
          <a:xfrm>
            <a:off x="4707827" y="1390476"/>
            <a:ext cx="2813924" cy="246221"/>
          </a:xfrm>
          <a:prstGeom prst="rect">
            <a:avLst/>
          </a:prstGeom>
          <a:noFill/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000" dirty="0">
                <a:solidFill>
                  <a:schemeClr val="tx1"/>
                </a:solidFill>
              </a:rPr>
              <a:t>Planos de treino </a:t>
            </a:r>
            <a:r>
              <a:rPr lang="pt-PT" sz="1000" dirty="0" err="1">
                <a:solidFill>
                  <a:schemeClr val="tx1"/>
                </a:solidFill>
              </a:rPr>
              <a:t>pré-feitos</a:t>
            </a:r>
            <a:endParaRPr lang="pt-PT" sz="10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013FB-F74B-A6A9-EF56-C3C45AC33883}"/>
              </a:ext>
            </a:extLst>
          </p:cNvPr>
          <p:cNvSpPr txBox="1"/>
          <p:nvPr/>
        </p:nvSpPr>
        <p:spPr>
          <a:xfrm>
            <a:off x="4707827" y="1779351"/>
            <a:ext cx="2813924" cy="246221"/>
          </a:xfrm>
          <a:prstGeom prst="rect">
            <a:avLst/>
          </a:prstGeom>
          <a:noFill/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000" dirty="0">
                <a:solidFill>
                  <a:schemeClr val="tx1"/>
                </a:solidFill>
              </a:rPr>
              <a:t>Aulas de grupo de participação livre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14D05-086D-D8E1-64ED-2B4923BDEE39}"/>
              </a:ext>
            </a:extLst>
          </p:cNvPr>
          <p:cNvSpPr txBox="1"/>
          <p:nvPr/>
        </p:nvSpPr>
        <p:spPr>
          <a:xfrm>
            <a:off x="4707827" y="2168224"/>
            <a:ext cx="2813924" cy="246221"/>
          </a:xfrm>
          <a:prstGeom prst="rect">
            <a:avLst/>
          </a:prstGeom>
          <a:noFill/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000" dirty="0">
                <a:solidFill>
                  <a:schemeClr val="tx1"/>
                </a:solidFill>
              </a:rPr>
              <a:t>Regista entradas e saídas dos clientes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FDB8D-18C6-572D-0501-87D98467141A}"/>
              </a:ext>
            </a:extLst>
          </p:cNvPr>
          <p:cNvSpPr txBox="1"/>
          <p:nvPr/>
        </p:nvSpPr>
        <p:spPr>
          <a:xfrm>
            <a:off x="4707827" y="2555478"/>
            <a:ext cx="2813924" cy="400110"/>
          </a:xfrm>
          <a:prstGeom prst="rect">
            <a:avLst/>
          </a:prstGeom>
          <a:noFill/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1000" dirty="0">
                <a:solidFill>
                  <a:schemeClr val="tx1"/>
                </a:solidFill>
              </a:rPr>
              <a:t>Aplicação móvel para oferecer feedback e registar as atividades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C168B43-9D71-17D7-1D65-6408A0C0DC2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913632" y="1124713"/>
            <a:ext cx="794195" cy="7777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3F40898-87CF-9108-A3EE-0040B1206C0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3913632" y="1513587"/>
            <a:ext cx="794195" cy="38887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0F4DB61-1E7C-E7B3-A86C-E5BC7AEA7205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913632" y="1902461"/>
            <a:ext cx="794195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8BF64F2-633A-B299-6889-1F052A165565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3913632" y="1902461"/>
            <a:ext cx="794195" cy="38887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82CCDD1-CA23-72FD-93ED-F21B50BCC26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3913632" y="1902461"/>
            <a:ext cx="794195" cy="85307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6DC82EC-97FE-B045-E1BF-32DF3E6F6FC2}"/>
              </a:ext>
            </a:extLst>
          </p:cNvPr>
          <p:cNvSpPr/>
          <p:nvPr/>
        </p:nvSpPr>
        <p:spPr>
          <a:xfrm>
            <a:off x="1363669" y="3607143"/>
            <a:ext cx="2813924" cy="42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Principais Desafios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E9AD0-54C9-2CFD-7975-35252D97F5C0}"/>
              </a:ext>
            </a:extLst>
          </p:cNvPr>
          <p:cNvSpPr txBox="1"/>
          <p:nvPr/>
        </p:nvSpPr>
        <p:spPr>
          <a:xfrm>
            <a:off x="979074" y="4036911"/>
            <a:ext cx="3583115" cy="7694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Acompanhar o progresso individual dos clientes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Avaliar o impacto dos circuitos oferecidos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Medir o desempenho dos seus instrutores de forma consistente.</a:t>
            </a:r>
            <a:endParaRPr lang="pt-PT" sz="11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B39B43-94FA-9772-DC47-C4790385DD57}"/>
              </a:ext>
            </a:extLst>
          </p:cNvPr>
          <p:cNvCxnSpPr>
            <a:stCxn id="4" idx="2"/>
            <a:endCxn id="27" idx="0"/>
          </p:cNvCxnSpPr>
          <p:nvPr/>
        </p:nvCxnSpPr>
        <p:spPr>
          <a:xfrm flipH="1">
            <a:off x="2770631" y="2117345"/>
            <a:ext cx="1" cy="1489798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E8B54DD-CD42-4E14-74CD-407CD036E33F}"/>
              </a:ext>
            </a:extLst>
          </p:cNvPr>
          <p:cNvSpPr/>
          <p:nvPr/>
        </p:nvSpPr>
        <p:spPr>
          <a:xfrm>
            <a:off x="8315945" y="2074638"/>
            <a:ext cx="3410583" cy="5461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Objetivos do Sistema de Suporte à Decisão </a:t>
            </a:r>
            <a:endParaRPr lang="pt-PT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D35378-9A54-9D2A-4871-B9AF0238B844}"/>
              </a:ext>
            </a:extLst>
          </p:cNvPr>
          <p:cNvSpPr txBox="1"/>
          <p:nvPr/>
        </p:nvSpPr>
        <p:spPr>
          <a:xfrm>
            <a:off x="6014353" y="3928393"/>
            <a:ext cx="2240280" cy="400110"/>
          </a:xfrm>
          <a:prstGeom prst="rect">
            <a:avLst/>
          </a:prstGeom>
          <a:noFill/>
          <a:ln w="190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Avaliar a adesão e eficácia dos Planos de Treino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E76A63-4095-CF3F-F6BA-D1CE5D246CAA}"/>
              </a:ext>
            </a:extLst>
          </p:cNvPr>
          <p:cNvSpPr txBox="1"/>
          <p:nvPr/>
        </p:nvSpPr>
        <p:spPr>
          <a:xfrm>
            <a:off x="6401611" y="5717108"/>
            <a:ext cx="2240280" cy="400110"/>
          </a:xfrm>
          <a:prstGeom prst="rect">
            <a:avLst/>
          </a:prstGeom>
          <a:noFill/>
          <a:ln w="190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Monitorizar a evolução e fidelização dos clientes</a:t>
            </a:r>
            <a:endParaRPr lang="pt-PT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2C7A14-DE1D-A1B3-17BB-9A098B192B5B}"/>
              </a:ext>
            </a:extLst>
          </p:cNvPr>
          <p:cNvSpPr txBox="1"/>
          <p:nvPr/>
        </p:nvSpPr>
        <p:spPr>
          <a:xfrm>
            <a:off x="7421315" y="4613330"/>
            <a:ext cx="2240280" cy="246221"/>
          </a:xfrm>
          <a:prstGeom prst="rect">
            <a:avLst/>
          </a:prstGeom>
          <a:noFill/>
          <a:ln w="190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Avaliar o desempenho dos instrutores</a:t>
            </a:r>
            <a:endParaRPr lang="pt-PT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E27319-02EE-667F-3C85-24E9DA4B134E}"/>
              </a:ext>
            </a:extLst>
          </p:cNvPr>
          <p:cNvSpPr txBox="1"/>
          <p:nvPr/>
        </p:nvSpPr>
        <p:spPr>
          <a:xfrm>
            <a:off x="8901096" y="5717108"/>
            <a:ext cx="2240280" cy="400110"/>
          </a:xfrm>
          <a:prstGeom prst="rect">
            <a:avLst/>
          </a:prstGeom>
          <a:noFill/>
          <a:ln w="190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Criar campanhas baseadas em comportamento</a:t>
            </a:r>
            <a:endParaRPr lang="pt-PT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333357-7A14-93E9-84E8-572528981A3F}"/>
              </a:ext>
            </a:extLst>
          </p:cNvPr>
          <p:cNvSpPr txBox="1"/>
          <p:nvPr/>
        </p:nvSpPr>
        <p:spPr>
          <a:xfrm>
            <a:off x="10142980" y="4622803"/>
            <a:ext cx="1967337" cy="400110"/>
          </a:xfrm>
          <a:prstGeom prst="rect">
            <a:avLst/>
          </a:prstGeom>
          <a:noFill/>
          <a:ln w="19050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Identificar tendências de treino e preferências</a:t>
            </a:r>
            <a:endParaRPr lang="pt-PT" sz="1000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8C047CE-2FC9-C833-31A0-3441EF0D9B13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 rot="5400000">
            <a:off x="7924038" y="1831193"/>
            <a:ext cx="1307655" cy="2886744"/>
          </a:xfrm>
          <a:prstGeom prst="bentConnector3">
            <a:avLst/>
          </a:prstGeom>
          <a:ln w="1905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DCC434D-FB81-278B-838A-7D9377A1C877}"/>
              </a:ext>
            </a:extLst>
          </p:cNvPr>
          <p:cNvCxnSpPr>
            <a:stCxn id="34" idx="2"/>
            <a:endCxn id="40" idx="0"/>
          </p:cNvCxnSpPr>
          <p:nvPr/>
        </p:nvCxnSpPr>
        <p:spPr>
          <a:xfrm rot="16200000" flipH="1">
            <a:off x="9572911" y="3069064"/>
            <a:ext cx="2002065" cy="1105412"/>
          </a:xfrm>
          <a:prstGeom prst="bentConnector3">
            <a:avLst/>
          </a:prstGeom>
          <a:ln w="1905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3FB236B-E80B-6565-3643-3B8FE00805BC}"/>
              </a:ext>
            </a:extLst>
          </p:cNvPr>
          <p:cNvCxnSpPr>
            <a:stCxn id="34" idx="2"/>
            <a:endCxn id="38" idx="0"/>
          </p:cNvCxnSpPr>
          <p:nvPr/>
        </p:nvCxnSpPr>
        <p:spPr>
          <a:xfrm rot="5400000">
            <a:off x="8285050" y="2877143"/>
            <a:ext cx="1992592" cy="1479782"/>
          </a:xfrm>
          <a:prstGeom prst="bentConnector3">
            <a:avLst/>
          </a:prstGeom>
          <a:ln w="1905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C25416E6-5571-80A6-6A37-067B00163CC5}"/>
              </a:ext>
            </a:extLst>
          </p:cNvPr>
          <p:cNvCxnSpPr>
            <a:stCxn id="34" idx="2"/>
            <a:endCxn id="39" idx="0"/>
          </p:cNvCxnSpPr>
          <p:nvPr/>
        </p:nvCxnSpPr>
        <p:spPr>
          <a:xfrm rot="5400000">
            <a:off x="8473052" y="4168923"/>
            <a:ext cx="3096370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2A64EFBA-9BD6-53E4-7B21-5886CC6A2800}"/>
              </a:ext>
            </a:extLst>
          </p:cNvPr>
          <p:cNvCxnSpPr>
            <a:stCxn id="34" idx="2"/>
            <a:endCxn id="37" idx="0"/>
          </p:cNvCxnSpPr>
          <p:nvPr/>
        </p:nvCxnSpPr>
        <p:spPr>
          <a:xfrm rot="5400000">
            <a:off x="7223309" y="2919180"/>
            <a:ext cx="3096370" cy="2499486"/>
          </a:xfrm>
          <a:prstGeom prst="bentConnector3">
            <a:avLst>
              <a:gd name="adj1" fmla="val 89868"/>
            </a:avLst>
          </a:prstGeom>
          <a:ln w="1905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2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7C91-8133-AC20-438E-6FCFD0FA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82297"/>
            <a:ext cx="10018713" cy="1066800"/>
          </a:xfrm>
        </p:spPr>
        <p:txBody>
          <a:bodyPr/>
          <a:lstStyle/>
          <a:p>
            <a:r>
              <a:rPr lang="pt-PT" dirty="0"/>
              <a:t>Levantamento de Requisitos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B01992-5590-8DBD-29B8-36B720592C97}"/>
              </a:ext>
            </a:extLst>
          </p:cNvPr>
          <p:cNvSpPr/>
          <p:nvPr/>
        </p:nvSpPr>
        <p:spPr>
          <a:xfrm>
            <a:off x="1688490" y="1306486"/>
            <a:ext cx="2331854" cy="3931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Clientes e Fidelização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075F73-ED54-9E48-A713-297EBB7814FB}"/>
              </a:ext>
            </a:extLst>
          </p:cNvPr>
          <p:cNvSpPr/>
          <p:nvPr/>
        </p:nvSpPr>
        <p:spPr>
          <a:xfrm>
            <a:off x="4137526" y="1306486"/>
            <a:ext cx="2331854" cy="3931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Instrutores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3722A0-B9B2-597E-89D3-4DB239618516}"/>
              </a:ext>
            </a:extLst>
          </p:cNvPr>
          <p:cNvSpPr/>
          <p:nvPr/>
        </p:nvSpPr>
        <p:spPr>
          <a:xfrm>
            <a:off x="6586562" y="1306486"/>
            <a:ext cx="2331854" cy="3931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dirty="0"/>
              <a:t>Gestão de Atividades e Marketing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B9E75-5AF0-561A-5ADB-EE91E469F2A8}"/>
              </a:ext>
            </a:extLst>
          </p:cNvPr>
          <p:cNvSpPr txBox="1"/>
          <p:nvPr/>
        </p:nvSpPr>
        <p:spPr>
          <a:xfrm>
            <a:off x="1688490" y="1762190"/>
            <a:ext cx="2316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Identificar risco de abandono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Sugerir treinos personalizados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Avaliar satisfação geral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58B8C-FE2A-0C9B-29D6-90663271377D}"/>
              </a:ext>
            </a:extLst>
          </p:cNvPr>
          <p:cNvSpPr txBox="1"/>
          <p:nvPr/>
        </p:nvSpPr>
        <p:spPr>
          <a:xfrm>
            <a:off x="4137526" y="1699678"/>
            <a:ext cx="23166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Avaliar desempenho com base em feedback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Medir taxa de adesão às aulas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Identificar circuitos com baixa eficácia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44F814-C405-6016-5971-128416A47501}"/>
              </a:ext>
            </a:extLst>
          </p:cNvPr>
          <p:cNvSpPr txBox="1"/>
          <p:nvPr/>
        </p:nvSpPr>
        <p:spPr>
          <a:xfrm>
            <a:off x="6601801" y="1699678"/>
            <a:ext cx="23166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Detetar picos/subutilização de horários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Avaliar impacto de campanhas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Monitorizar popularidade de aulas/circuitos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A27661C-FF42-97F6-5491-F20AB3DC7C2A}"/>
              </a:ext>
            </a:extLst>
          </p:cNvPr>
          <p:cNvSpPr/>
          <p:nvPr/>
        </p:nvSpPr>
        <p:spPr>
          <a:xfrm>
            <a:off x="9666832" y="2824001"/>
            <a:ext cx="2249424" cy="393192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Métodos de Levantamento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A1A3E5-89E1-DE95-F893-75D42CF5D0FA}"/>
              </a:ext>
            </a:extLst>
          </p:cNvPr>
          <p:cNvSpPr txBox="1"/>
          <p:nvPr/>
        </p:nvSpPr>
        <p:spPr>
          <a:xfrm>
            <a:off x="9282818" y="3260704"/>
            <a:ext cx="3017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Entrevistas com utilizadores e instrutores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Análise de processos operacionais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/>
              <a:t>Discussões em grupo e brainstorming</a:t>
            </a:r>
            <a:endParaRPr lang="pt-PT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955EDA-334D-8B3C-962A-740DF718457A}"/>
              </a:ext>
            </a:extLst>
          </p:cNvPr>
          <p:cNvSpPr/>
          <p:nvPr/>
        </p:nvSpPr>
        <p:spPr>
          <a:xfrm>
            <a:off x="1484309" y="1149097"/>
            <a:ext cx="7644384" cy="164896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2B580294-CCCB-CD66-3878-50E1616B44D9}"/>
              </a:ext>
            </a:extLst>
          </p:cNvPr>
          <p:cNvSpPr/>
          <p:nvPr/>
        </p:nvSpPr>
        <p:spPr>
          <a:xfrm rot="5400000">
            <a:off x="5102837" y="-841805"/>
            <a:ext cx="401233" cy="7805996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17C3072-F158-2891-3E35-EF9B518489D1}"/>
              </a:ext>
            </a:extLst>
          </p:cNvPr>
          <p:cNvSpPr/>
          <p:nvPr/>
        </p:nvSpPr>
        <p:spPr>
          <a:xfrm>
            <a:off x="3659057" y="3324322"/>
            <a:ext cx="3291840" cy="40123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Serve os Agentes de Decisão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0FE78A-3F88-E7F8-4B54-CB8AB8F96ABE}"/>
              </a:ext>
            </a:extLst>
          </p:cNvPr>
          <p:cNvSpPr txBox="1"/>
          <p:nvPr/>
        </p:nvSpPr>
        <p:spPr>
          <a:xfrm>
            <a:off x="1282203" y="4980690"/>
            <a:ext cx="1895270" cy="30777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400" dirty="0"/>
              <a:t>Gestor Operacional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AEC040-1407-427E-A0B1-3D539C3325FD}"/>
              </a:ext>
            </a:extLst>
          </p:cNvPr>
          <p:cNvSpPr txBox="1"/>
          <p:nvPr/>
        </p:nvSpPr>
        <p:spPr>
          <a:xfrm>
            <a:off x="3544197" y="4980691"/>
            <a:ext cx="1895270" cy="30777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400" dirty="0"/>
              <a:t>Gestor de Fidelização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D0BFBE-8B5D-855B-96B1-113A48D7A561}"/>
              </a:ext>
            </a:extLst>
          </p:cNvPr>
          <p:cNvSpPr txBox="1"/>
          <p:nvPr/>
        </p:nvSpPr>
        <p:spPr>
          <a:xfrm>
            <a:off x="5806192" y="4980691"/>
            <a:ext cx="1895270" cy="30777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400" dirty="0"/>
              <a:t>Gestor de Marketing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5CC59A-3F7C-3276-A3F1-C9461C33856A}"/>
              </a:ext>
            </a:extLst>
          </p:cNvPr>
          <p:cNvSpPr txBox="1"/>
          <p:nvPr/>
        </p:nvSpPr>
        <p:spPr>
          <a:xfrm>
            <a:off x="8068187" y="4980690"/>
            <a:ext cx="2272385" cy="30777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400" dirty="0"/>
              <a:t>Coordenador de Instrutores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8AED8D6-0A15-FF60-C6F5-615C9343BD09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rot="5400000">
            <a:off x="3139841" y="2815554"/>
            <a:ext cx="1255134" cy="3075139"/>
          </a:xfrm>
          <a:prstGeom prst="bentConnector3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B5C7D05-D0D0-D162-1308-827B57CD185C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 rot="5400000">
            <a:off x="4270838" y="3946551"/>
            <a:ext cx="1255135" cy="813145"/>
          </a:xfrm>
          <a:prstGeom prst="bentConnector3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98545B8-1808-66F3-84CB-73D013C64F3A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 rot="16200000" flipH="1">
            <a:off x="5401835" y="3628698"/>
            <a:ext cx="1255135" cy="1448850"/>
          </a:xfrm>
          <a:prstGeom prst="bentConnector3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8C6BF29-8B0F-C69C-FD82-6E2DBC5491A3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 rot="16200000" flipH="1">
            <a:off x="6627111" y="2403421"/>
            <a:ext cx="1255134" cy="3899403"/>
          </a:xfrm>
          <a:prstGeom prst="bentConnector3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25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22D7-51A2-3979-BA2A-028246B79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014983"/>
          </a:xfrm>
        </p:spPr>
        <p:txBody>
          <a:bodyPr/>
          <a:lstStyle/>
          <a:p>
            <a:r>
              <a:rPr lang="pt-PT" dirty="0"/>
              <a:t>Modelação Dimensional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A2EBE8-D605-416E-3A0E-AC88B3E87A07}"/>
              </a:ext>
            </a:extLst>
          </p:cNvPr>
          <p:cNvSpPr/>
          <p:nvPr/>
        </p:nvSpPr>
        <p:spPr>
          <a:xfrm>
            <a:off x="1585380" y="2723088"/>
            <a:ext cx="2011680" cy="2895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Dimensão Cliente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350BC1-C8EC-3D32-1088-9DE6B0F7C882}"/>
              </a:ext>
            </a:extLst>
          </p:cNvPr>
          <p:cNvSpPr/>
          <p:nvPr/>
        </p:nvSpPr>
        <p:spPr>
          <a:xfrm>
            <a:off x="6712198" y="1527552"/>
            <a:ext cx="2011680" cy="2895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Dimensão Calendário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64220D-191E-822A-B575-E0BAAC4C6AB7}"/>
              </a:ext>
            </a:extLst>
          </p:cNvPr>
          <p:cNvSpPr/>
          <p:nvPr/>
        </p:nvSpPr>
        <p:spPr>
          <a:xfrm>
            <a:off x="6152048" y="2714223"/>
            <a:ext cx="2011680" cy="2895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Dimensão Instrutor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3FC931-7B7E-9C94-F2F3-CD78C7991AD0}"/>
              </a:ext>
            </a:extLst>
          </p:cNvPr>
          <p:cNvSpPr/>
          <p:nvPr/>
        </p:nvSpPr>
        <p:spPr>
          <a:xfrm>
            <a:off x="3868714" y="2723088"/>
            <a:ext cx="2011680" cy="2895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Dimensão Campanha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BBBD423-1A94-0316-54BA-7BAF4E6DA905}"/>
              </a:ext>
            </a:extLst>
          </p:cNvPr>
          <p:cNvSpPr/>
          <p:nvPr/>
        </p:nvSpPr>
        <p:spPr>
          <a:xfrm>
            <a:off x="8967789" y="1527552"/>
            <a:ext cx="2011680" cy="2895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Dimensão Treino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A80EE8-4AF9-0924-2E4E-5796B0032CEA}"/>
              </a:ext>
            </a:extLst>
          </p:cNvPr>
          <p:cNvSpPr/>
          <p:nvPr/>
        </p:nvSpPr>
        <p:spPr>
          <a:xfrm>
            <a:off x="4456607" y="1527552"/>
            <a:ext cx="2011680" cy="2895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Dimensão Tipo de Aula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912AD-CF2C-AF53-B9ED-93902FECDCAB}"/>
              </a:ext>
            </a:extLst>
          </p:cNvPr>
          <p:cNvSpPr txBox="1"/>
          <p:nvPr/>
        </p:nvSpPr>
        <p:spPr>
          <a:xfrm>
            <a:off x="6712198" y="1841714"/>
            <a:ext cx="2011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Dimensão</a:t>
            </a:r>
            <a:r>
              <a:rPr lang="pt-BR" sz="1000" i="1" dirty="0"/>
              <a:t> Role-Playing</a:t>
            </a:r>
            <a:r>
              <a:rPr lang="pt-BR" sz="1000" dirty="0"/>
              <a:t>, permite análises temporais</a:t>
            </a:r>
            <a:endParaRPr lang="pt-PT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615A91-4B90-0321-DE7F-9F65F316F62F}"/>
              </a:ext>
            </a:extLst>
          </p:cNvPr>
          <p:cNvSpPr txBox="1"/>
          <p:nvPr/>
        </p:nvSpPr>
        <p:spPr>
          <a:xfrm>
            <a:off x="1585380" y="3010208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Contém dados demográficos e físicos dos clientes. </a:t>
            </a:r>
            <a:endParaRPr lang="pt-PT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1E852F-7C6D-9A27-1215-7D3A8ADFD411}"/>
              </a:ext>
            </a:extLst>
          </p:cNvPr>
          <p:cNvSpPr txBox="1"/>
          <p:nvPr/>
        </p:nvSpPr>
        <p:spPr>
          <a:xfrm>
            <a:off x="3868713" y="3010208"/>
            <a:ext cx="201168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/>
              <a:t>Regista informações das campanhas promocionais.</a:t>
            </a:r>
          </a:p>
          <a:p>
            <a:pPr algn="ctr"/>
            <a:r>
              <a:rPr lang="pt-BR" sz="900" dirty="0"/>
              <a:t>Variação tipo 2</a:t>
            </a:r>
            <a:endParaRPr lang="pt-PT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64B344-C8C7-3E17-E7AB-5FA31333E54D}"/>
              </a:ext>
            </a:extLst>
          </p:cNvPr>
          <p:cNvSpPr txBox="1"/>
          <p:nvPr/>
        </p:nvSpPr>
        <p:spPr>
          <a:xfrm>
            <a:off x="6152048" y="3021493"/>
            <a:ext cx="2011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Informações sobre o Instrutor, incluindo a sua especialização</a:t>
            </a:r>
            <a:endParaRPr lang="pt-PT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5EEDA8-DD28-AACC-352A-210909516F41}"/>
              </a:ext>
            </a:extLst>
          </p:cNvPr>
          <p:cNvSpPr txBox="1"/>
          <p:nvPr/>
        </p:nvSpPr>
        <p:spPr>
          <a:xfrm>
            <a:off x="8934046" y="1832849"/>
            <a:ext cx="2011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Representa planos de treino criados por instrutores</a:t>
            </a:r>
            <a:endParaRPr lang="pt-PT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32C05B-7EC0-3AF5-2CF0-00688639185A}"/>
              </a:ext>
            </a:extLst>
          </p:cNvPr>
          <p:cNvSpPr txBox="1"/>
          <p:nvPr/>
        </p:nvSpPr>
        <p:spPr>
          <a:xfrm>
            <a:off x="4490348" y="1786683"/>
            <a:ext cx="2011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000" dirty="0"/>
              <a:t>Categoriza as aulas de Grupo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997E807-E19E-7A78-624B-86B208D7C1D2}"/>
              </a:ext>
            </a:extLst>
          </p:cNvPr>
          <p:cNvSpPr/>
          <p:nvPr/>
        </p:nvSpPr>
        <p:spPr>
          <a:xfrm>
            <a:off x="1585380" y="978912"/>
            <a:ext cx="2459736" cy="54864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Dimensões 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5F20A32-3C33-ED68-07F5-4DD2E18889B7}"/>
              </a:ext>
            </a:extLst>
          </p:cNvPr>
          <p:cNvCxnSpPr>
            <a:stCxn id="26" idx="2"/>
            <a:endCxn id="10" idx="0"/>
          </p:cNvCxnSpPr>
          <p:nvPr/>
        </p:nvCxnSpPr>
        <p:spPr>
          <a:xfrm rot="5400000">
            <a:off x="2105466" y="2013306"/>
            <a:ext cx="1195536" cy="224028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B8240B8-91F7-D5DE-FDF3-0E922D8E77A6}"/>
              </a:ext>
            </a:extLst>
          </p:cNvPr>
          <p:cNvCxnSpPr>
            <a:stCxn id="26" idx="2"/>
            <a:endCxn id="13" idx="0"/>
          </p:cNvCxnSpPr>
          <p:nvPr/>
        </p:nvCxnSpPr>
        <p:spPr>
          <a:xfrm rot="16200000" flipH="1">
            <a:off x="3247133" y="1095667"/>
            <a:ext cx="1195536" cy="20593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B648251-25D6-CB1E-B71A-8FF235326A85}"/>
              </a:ext>
            </a:extLst>
          </p:cNvPr>
          <p:cNvCxnSpPr>
            <a:stCxn id="26" idx="2"/>
            <a:endCxn id="12" idx="0"/>
          </p:cNvCxnSpPr>
          <p:nvPr/>
        </p:nvCxnSpPr>
        <p:spPr>
          <a:xfrm rot="16200000" flipH="1">
            <a:off x="4393233" y="-50433"/>
            <a:ext cx="1186671" cy="434264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80CE0DE-9129-675A-4E72-C7BD7B3C5E9E}"/>
              </a:ext>
            </a:extLst>
          </p:cNvPr>
          <p:cNvCxnSpPr>
            <a:stCxn id="26" idx="3"/>
            <a:endCxn id="15" idx="0"/>
          </p:cNvCxnSpPr>
          <p:nvPr/>
        </p:nvCxnSpPr>
        <p:spPr>
          <a:xfrm>
            <a:off x="4045116" y="1253232"/>
            <a:ext cx="1417331" cy="274320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740CFDB-2B01-A1AC-EA89-33F93CBED167}"/>
              </a:ext>
            </a:extLst>
          </p:cNvPr>
          <p:cNvCxnSpPr>
            <a:stCxn id="26" idx="3"/>
            <a:endCxn id="11" idx="0"/>
          </p:cNvCxnSpPr>
          <p:nvPr/>
        </p:nvCxnSpPr>
        <p:spPr>
          <a:xfrm>
            <a:off x="4045116" y="1253232"/>
            <a:ext cx="3672922" cy="274320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7203103-0BD0-2908-23AD-6D4A245BD634}"/>
              </a:ext>
            </a:extLst>
          </p:cNvPr>
          <p:cNvCxnSpPr>
            <a:stCxn id="26" idx="3"/>
            <a:endCxn id="14" idx="0"/>
          </p:cNvCxnSpPr>
          <p:nvPr/>
        </p:nvCxnSpPr>
        <p:spPr>
          <a:xfrm>
            <a:off x="4045116" y="1253232"/>
            <a:ext cx="5928513" cy="274320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BA6F188-C7F5-C6DA-FC9F-8979C2D6F952}"/>
              </a:ext>
            </a:extLst>
          </p:cNvPr>
          <p:cNvSpPr/>
          <p:nvPr/>
        </p:nvSpPr>
        <p:spPr>
          <a:xfrm>
            <a:off x="1169532" y="3478461"/>
            <a:ext cx="2459736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Tabelas de Facto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F5572D8-9DF6-967B-4917-02C428617870}"/>
              </a:ext>
            </a:extLst>
          </p:cNvPr>
          <p:cNvSpPr/>
          <p:nvPr/>
        </p:nvSpPr>
        <p:spPr>
          <a:xfrm>
            <a:off x="3866190" y="4076402"/>
            <a:ext cx="2459736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TF-Atividade Cliente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AB8C17-D5A7-82E8-F5D5-91F786E8944A}"/>
              </a:ext>
            </a:extLst>
          </p:cNvPr>
          <p:cNvSpPr txBox="1"/>
          <p:nvPr/>
        </p:nvSpPr>
        <p:spPr>
          <a:xfrm>
            <a:off x="3629268" y="4625042"/>
            <a:ext cx="29335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Periodicidade Diária.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Associada às dimensões Cliente, Tipo de Aula, Calendário, Treino e Campanha.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Tem como objetivo </a:t>
            </a:r>
            <a:r>
              <a:rPr lang="pt-BR" sz="1200" dirty="0"/>
              <a:t>analisar o comportamento dos clientes e a adesão a treinos e campanhas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Medidas: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pt-BR" sz="1200" dirty="0"/>
              <a:t>Tempo de permanência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pt-BR" sz="1200" dirty="0"/>
              <a:t>Calorias queimadas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pt-BR" sz="1200" dirty="0"/>
              <a:t>Avaliação de treino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pt-BR" sz="1200" dirty="0"/>
              <a:t>Avaliação de aula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PT" sz="120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7B34F75-7626-337E-3ACC-EEE6BC666B48}"/>
              </a:ext>
            </a:extLst>
          </p:cNvPr>
          <p:cNvSpPr/>
          <p:nvPr/>
        </p:nvSpPr>
        <p:spPr>
          <a:xfrm>
            <a:off x="6799769" y="4076402"/>
            <a:ext cx="2787474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TF-Desempenho Instrutor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1DFE72-8D44-6510-2DD5-811842FA308A}"/>
              </a:ext>
            </a:extLst>
          </p:cNvPr>
          <p:cNvSpPr txBox="1"/>
          <p:nvPr/>
        </p:nvSpPr>
        <p:spPr>
          <a:xfrm>
            <a:off x="6915233" y="4625042"/>
            <a:ext cx="25565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Periodicidade Semanal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Associada às dimensões Instrutor, Tipo de Aula e Calendário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dirty="0"/>
              <a:t>Tem como objetivo </a:t>
            </a:r>
            <a:r>
              <a:rPr lang="pt-BR" sz="1200" dirty="0"/>
              <a:t>avaliar o desempenho semanal da equipa técnica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Medidas: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pt-PT" sz="1200" dirty="0"/>
              <a:t>Lotação aulas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pt-PT" sz="1200" dirty="0"/>
              <a:t>Nº de treinos seguidos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pt-PT" sz="1200" dirty="0"/>
              <a:t>Avaliação média treinos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pt-PT" sz="1200" dirty="0"/>
              <a:t>Avaliação média aulas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200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D68C0157-6835-AD53-4EC3-25D65C7E5991}"/>
              </a:ext>
            </a:extLst>
          </p:cNvPr>
          <p:cNvCxnSpPr>
            <a:stCxn id="52" idx="3"/>
            <a:endCxn id="53" idx="0"/>
          </p:cNvCxnSpPr>
          <p:nvPr/>
        </p:nvCxnSpPr>
        <p:spPr>
          <a:xfrm>
            <a:off x="3629268" y="3752781"/>
            <a:ext cx="1466790" cy="323621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9B0D9856-B5A6-9AEE-3A0F-669620FBDDFF}"/>
              </a:ext>
            </a:extLst>
          </p:cNvPr>
          <p:cNvCxnSpPr>
            <a:stCxn id="52" idx="3"/>
            <a:endCxn id="55" idx="0"/>
          </p:cNvCxnSpPr>
          <p:nvPr/>
        </p:nvCxnSpPr>
        <p:spPr>
          <a:xfrm>
            <a:off x="3629268" y="3752781"/>
            <a:ext cx="4564238" cy="323621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17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CFDC-2FC5-955E-ED68-9D0B2532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432" y="0"/>
            <a:ext cx="10018713" cy="944217"/>
          </a:xfrm>
        </p:spPr>
        <p:txBody>
          <a:bodyPr/>
          <a:lstStyle/>
          <a:p>
            <a:r>
              <a:rPr lang="pt-PT" dirty="0"/>
              <a:t>Modelação Dimensional</a:t>
            </a:r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39F90FC0-7FE0-04ED-AC7B-5D88288A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798" y="1252330"/>
            <a:ext cx="4558347" cy="533167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 descr="A diagram of a diagram of a company&#10;&#10;AI-generated content may be incorrect.">
            <a:extLst>
              <a:ext uri="{FF2B5EF4-FFF2-40B4-BE49-F238E27FC236}">
                <a16:creationId xmlns:a16="http://schemas.microsoft.com/office/drawing/2014/main" id="{39059696-4134-EB41-3E9F-20DE2FFEA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653" y="1252330"/>
            <a:ext cx="4558347" cy="533167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56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3CAB-7E7F-AFBC-22B4-E5199D95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133060"/>
          </a:xfrm>
        </p:spPr>
        <p:txBody>
          <a:bodyPr/>
          <a:lstStyle/>
          <a:p>
            <a:r>
              <a:rPr lang="pt-PT" dirty="0"/>
              <a:t>Arquitetura Geral do Sistema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273301A9-6263-A5E6-2B60-CF55F7121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68" y="1859430"/>
            <a:ext cx="11459263" cy="272169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882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EE4A-DD46-0390-1040-07561E50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066800"/>
          </a:xfrm>
        </p:spPr>
        <p:txBody>
          <a:bodyPr/>
          <a:lstStyle/>
          <a:p>
            <a:r>
              <a:rPr lang="pt-PT" dirty="0"/>
              <a:t>Povoamento de Dados- Data </a:t>
            </a:r>
            <a:r>
              <a:rPr lang="pt-PT" dirty="0" err="1"/>
              <a:t>Maps</a:t>
            </a:r>
            <a:endParaRPr lang="pt-PT" dirty="0"/>
          </a:p>
        </p:txBody>
      </p:sp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8CCC4EB6-2496-662C-5127-DDAEB1EBC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39" y="1719135"/>
            <a:ext cx="10267122" cy="341972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992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8E637-FEFC-7DC4-585A-51304CC6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AE2AD-0504-7F0E-5D4B-B30B38CF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066800"/>
          </a:xfrm>
        </p:spPr>
        <p:txBody>
          <a:bodyPr/>
          <a:lstStyle/>
          <a:p>
            <a:r>
              <a:rPr lang="pt-PT" dirty="0"/>
              <a:t>Povoamento de Dados- Data </a:t>
            </a:r>
            <a:r>
              <a:rPr lang="pt-PT" dirty="0" err="1"/>
              <a:t>Maps</a:t>
            </a:r>
            <a:endParaRPr lang="pt-PT" dirty="0"/>
          </a:p>
        </p:txBody>
      </p:sp>
      <p:pic>
        <p:nvPicPr>
          <p:cNvPr id="4" name="Picture 3" descr="A diagram of lines and dots&#10;&#10;AI-generated content may be incorrect.">
            <a:extLst>
              <a:ext uri="{FF2B5EF4-FFF2-40B4-BE49-F238E27FC236}">
                <a16:creationId xmlns:a16="http://schemas.microsoft.com/office/drawing/2014/main" id="{50ED3E5F-C0C6-4372-26FE-F059239E3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43" y="1747223"/>
            <a:ext cx="10018713" cy="336355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54523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DD21-4B57-1392-C0B6-32CF8D65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5D90-C198-5A07-F912-1075EEC2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066800"/>
          </a:xfrm>
        </p:spPr>
        <p:txBody>
          <a:bodyPr/>
          <a:lstStyle/>
          <a:p>
            <a:r>
              <a:rPr lang="pt-PT" dirty="0"/>
              <a:t>Povoamento de Dados- Data </a:t>
            </a:r>
            <a:r>
              <a:rPr lang="pt-PT" dirty="0" err="1"/>
              <a:t>Maps</a:t>
            </a:r>
            <a:endParaRPr lang="pt-PT" dirty="0"/>
          </a:p>
        </p:txBody>
      </p:sp>
      <p:pic>
        <p:nvPicPr>
          <p:cNvPr id="4" name="Picture 3" descr="A white document with black text&#10;&#10;AI-generated content may be incorrect.">
            <a:extLst>
              <a:ext uri="{FF2B5EF4-FFF2-40B4-BE49-F238E27FC236}">
                <a16:creationId xmlns:a16="http://schemas.microsoft.com/office/drawing/2014/main" id="{5BE08535-1266-9AA3-C3D1-4DF8898F1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862" y="1519237"/>
            <a:ext cx="6772275" cy="38195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2582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E19B-DCA4-173F-298A-3322FA07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47C57-C8F7-A34D-A39B-54489CC3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066800"/>
          </a:xfrm>
        </p:spPr>
        <p:txBody>
          <a:bodyPr/>
          <a:lstStyle/>
          <a:p>
            <a:r>
              <a:rPr lang="pt-PT" dirty="0"/>
              <a:t>Povoamento de Dados- Data </a:t>
            </a:r>
            <a:r>
              <a:rPr lang="pt-PT" dirty="0" err="1"/>
              <a:t>Maps</a:t>
            </a:r>
            <a:endParaRPr lang="pt-PT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600887-A187-B7DE-FA24-DA8E01578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678" y="1182449"/>
            <a:ext cx="9293087" cy="44931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5458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4B6D3-5EEB-BF21-92AF-41D0701F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30D8-3527-A29A-8135-CBEE8D9D6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066800"/>
          </a:xfrm>
        </p:spPr>
        <p:txBody>
          <a:bodyPr/>
          <a:lstStyle/>
          <a:p>
            <a:r>
              <a:rPr lang="pt-PT" dirty="0"/>
              <a:t>Povoamento de Dados- Data </a:t>
            </a:r>
            <a:r>
              <a:rPr lang="pt-PT" dirty="0" err="1"/>
              <a:t>Maps</a:t>
            </a:r>
            <a:endParaRPr lang="pt-PT" dirty="0"/>
          </a:p>
        </p:txBody>
      </p:sp>
      <p:pic>
        <p:nvPicPr>
          <p:cNvPr id="5" name="Picture 4" descr="A diagram of a person's body&#10;&#10;AI-generated content may be incorrect.">
            <a:extLst>
              <a:ext uri="{FF2B5EF4-FFF2-40B4-BE49-F238E27FC236}">
                <a16:creationId xmlns:a16="http://schemas.microsoft.com/office/drawing/2014/main" id="{3717F7C8-1FC7-514C-251C-2DBC70808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04" y="1625776"/>
            <a:ext cx="10336230" cy="360644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269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424A-1F04-BE79-4532-D17771D0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7FBA-0C4F-89E5-728C-3E5A47542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066800"/>
          </a:xfrm>
        </p:spPr>
        <p:txBody>
          <a:bodyPr/>
          <a:lstStyle/>
          <a:p>
            <a:r>
              <a:rPr lang="pt-PT" dirty="0"/>
              <a:t>Modelação do Sistema de Povoamento</a:t>
            </a:r>
          </a:p>
        </p:txBody>
      </p:sp>
      <p:pic>
        <p:nvPicPr>
          <p:cNvPr id="4" name="Picture 3" descr="A screenshot of a computer diagram&#10;&#10;AI-generated content may be incorrect.">
            <a:extLst>
              <a:ext uri="{FF2B5EF4-FFF2-40B4-BE49-F238E27FC236}">
                <a16:creationId xmlns:a16="http://schemas.microsoft.com/office/drawing/2014/main" id="{50D3B257-2760-87C1-2834-BFD6AA654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87" y="844824"/>
            <a:ext cx="6788425" cy="593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46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8663-56C1-33B9-AEEE-D060C9AB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44726"/>
            <a:ext cx="10018713" cy="1022074"/>
          </a:xfrm>
        </p:spPr>
        <p:txBody>
          <a:bodyPr>
            <a:normAutofit fontScale="90000"/>
          </a:bodyPr>
          <a:lstStyle/>
          <a:p>
            <a:r>
              <a:rPr lang="pt-PT" sz="4900" dirty="0"/>
              <a:t>Exploração e Análise de Dados</a:t>
            </a:r>
            <a:br>
              <a:rPr lang="pt-PT" dirty="0"/>
            </a:br>
            <a:r>
              <a:rPr lang="pt-BR" sz="3600" dirty="0"/>
              <a:t>Dashboard 1 — Utilização e Ocupação</a:t>
            </a:r>
            <a:endParaRPr lang="pt-PT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88C48009-F61C-1587-41FF-AD0E2F57C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18" y="1494683"/>
            <a:ext cx="8211598" cy="46377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300E79-196C-F98D-B5D0-21E5834901F5}"/>
              </a:ext>
            </a:extLst>
          </p:cNvPr>
          <p:cNvSpPr/>
          <p:nvPr/>
        </p:nvSpPr>
        <p:spPr>
          <a:xfrm>
            <a:off x="9660835" y="2988365"/>
            <a:ext cx="2067339" cy="427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Agente de Decisão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477174-73E0-76C3-C673-7B0D91CA4EF2}"/>
              </a:ext>
            </a:extLst>
          </p:cNvPr>
          <p:cNvSpPr txBox="1"/>
          <p:nvPr/>
        </p:nvSpPr>
        <p:spPr>
          <a:xfrm>
            <a:off x="9516717" y="3415748"/>
            <a:ext cx="23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Gestor Operacional</a:t>
            </a:r>
          </a:p>
        </p:txBody>
      </p:sp>
    </p:spTree>
    <p:extLst>
      <p:ext uri="{BB962C8B-B14F-4D97-AF65-F5344CB8AC3E}">
        <p14:creationId xmlns:p14="http://schemas.microsoft.com/office/powerpoint/2010/main" val="2999808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7E07B-C6D0-9535-EE79-53D1C26C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E9A9-7278-7DD9-84C0-0916CE6DB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44726"/>
            <a:ext cx="10018713" cy="1022074"/>
          </a:xfrm>
        </p:spPr>
        <p:txBody>
          <a:bodyPr>
            <a:normAutofit fontScale="90000"/>
          </a:bodyPr>
          <a:lstStyle/>
          <a:p>
            <a:r>
              <a:rPr lang="pt-PT" sz="4900" dirty="0"/>
              <a:t>Exploração e Análise de Dados</a:t>
            </a:r>
            <a:br>
              <a:rPr lang="pt-PT" dirty="0"/>
            </a:br>
            <a:r>
              <a:rPr lang="pt-BR" sz="3600" dirty="0"/>
              <a:t>Dashboard 2 — Clientes e Aderência</a:t>
            </a:r>
            <a:endParaRPr lang="pt-PT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990056-FF75-9975-3C3E-6D7E7095F742}"/>
              </a:ext>
            </a:extLst>
          </p:cNvPr>
          <p:cNvSpPr/>
          <p:nvPr/>
        </p:nvSpPr>
        <p:spPr>
          <a:xfrm>
            <a:off x="9660835" y="2988365"/>
            <a:ext cx="2067339" cy="427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Agente de Decisão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C509C-0E11-67D1-D22C-443E93F76426}"/>
              </a:ext>
            </a:extLst>
          </p:cNvPr>
          <p:cNvSpPr txBox="1"/>
          <p:nvPr/>
        </p:nvSpPr>
        <p:spPr>
          <a:xfrm>
            <a:off x="9516717" y="3415748"/>
            <a:ext cx="2355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Gestor de Clientes</a:t>
            </a:r>
          </a:p>
          <a:p>
            <a:pPr algn="ctr"/>
            <a:r>
              <a:rPr lang="pt-PT" dirty="0"/>
              <a:t>Gestor de Fidelização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7B2D49EA-B87B-4EED-1A0B-3AE497678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00" y="1535517"/>
            <a:ext cx="8358117" cy="440679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5440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D7A05-CA14-85D1-D7D5-F8870487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663B-73C8-346E-A05F-7B608F44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44726"/>
            <a:ext cx="10018713" cy="1022074"/>
          </a:xfrm>
        </p:spPr>
        <p:txBody>
          <a:bodyPr>
            <a:normAutofit fontScale="90000"/>
          </a:bodyPr>
          <a:lstStyle/>
          <a:p>
            <a:r>
              <a:rPr lang="pt-PT" sz="4900" dirty="0"/>
              <a:t>Exploração e Análise de Dados</a:t>
            </a:r>
            <a:br>
              <a:rPr lang="pt-PT" dirty="0"/>
            </a:br>
            <a:r>
              <a:rPr lang="pt-BR" sz="3600" dirty="0"/>
              <a:t>Dashboard 3 — Campanhas e Marketing</a:t>
            </a:r>
            <a:endParaRPr lang="pt-PT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262139-BDAA-6571-2C76-D7DEB191285E}"/>
              </a:ext>
            </a:extLst>
          </p:cNvPr>
          <p:cNvSpPr/>
          <p:nvPr/>
        </p:nvSpPr>
        <p:spPr>
          <a:xfrm>
            <a:off x="9660835" y="2988365"/>
            <a:ext cx="2067339" cy="427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Agente de Decisão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C7FDE-1DDA-A8DF-435C-DFC83E9AEB7E}"/>
              </a:ext>
            </a:extLst>
          </p:cNvPr>
          <p:cNvSpPr txBox="1"/>
          <p:nvPr/>
        </p:nvSpPr>
        <p:spPr>
          <a:xfrm>
            <a:off x="9516717" y="3415748"/>
            <a:ext cx="23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Gestor de Campanhas</a:t>
            </a:r>
          </a:p>
        </p:txBody>
      </p:sp>
      <p:pic>
        <p:nvPicPr>
          <p:cNvPr id="5" name="Picture 4" descr="A collage of several graphs&#10;&#10;AI-generated content may be incorrect.">
            <a:extLst>
              <a:ext uri="{FF2B5EF4-FFF2-40B4-BE49-F238E27FC236}">
                <a16:creationId xmlns:a16="http://schemas.microsoft.com/office/drawing/2014/main" id="{E06DCFBD-306E-082F-57E6-583C1E51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06" y="1495568"/>
            <a:ext cx="8204232" cy="448668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154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11241-56C1-AEFC-7092-D12E7CC8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7AF9-F817-B602-E1FA-1104B431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44726"/>
            <a:ext cx="10018713" cy="1022074"/>
          </a:xfrm>
        </p:spPr>
        <p:txBody>
          <a:bodyPr>
            <a:normAutofit fontScale="90000"/>
          </a:bodyPr>
          <a:lstStyle/>
          <a:p>
            <a:r>
              <a:rPr lang="pt-PT" sz="4900" dirty="0"/>
              <a:t>Exploração e Análise de Dados</a:t>
            </a:r>
            <a:br>
              <a:rPr lang="pt-PT" dirty="0"/>
            </a:br>
            <a:r>
              <a:rPr lang="pt-BR" sz="3600" dirty="0"/>
              <a:t>Dashboard 4 — Desempenho de Instrutores</a:t>
            </a:r>
            <a:endParaRPr lang="pt-PT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8FB348-54C0-2F57-4991-68E6750813EB}"/>
              </a:ext>
            </a:extLst>
          </p:cNvPr>
          <p:cNvSpPr/>
          <p:nvPr/>
        </p:nvSpPr>
        <p:spPr>
          <a:xfrm>
            <a:off x="9660835" y="2988365"/>
            <a:ext cx="2067339" cy="427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Agente de Decisão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AA71CC-3938-DF19-3A63-3A9A79FFD67B}"/>
              </a:ext>
            </a:extLst>
          </p:cNvPr>
          <p:cNvSpPr txBox="1"/>
          <p:nvPr/>
        </p:nvSpPr>
        <p:spPr>
          <a:xfrm>
            <a:off x="9516717" y="3415748"/>
            <a:ext cx="2355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Coordenador de Instrutores</a:t>
            </a:r>
          </a:p>
        </p:txBody>
      </p:sp>
      <p:pic>
        <p:nvPicPr>
          <p:cNvPr id="4" name="Picture 3" descr="A group of blue bars&#10;&#10;AI-generated content may be incorrect.">
            <a:extLst>
              <a:ext uri="{FF2B5EF4-FFF2-40B4-BE49-F238E27FC236}">
                <a16:creationId xmlns:a16="http://schemas.microsoft.com/office/drawing/2014/main" id="{C1E34DFA-AF85-7399-9B17-5EE532485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47" y="1565334"/>
            <a:ext cx="8245011" cy="434715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4007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93957-EC89-707B-F321-6442A129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5BF7-92FC-C467-82AB-AEB46FE4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44726"/>
            <a:ext cx="10018713" cy="1022074"/>
          </a:xfrm>
        </p:spPr>
        <p:txBody>
          <a:bodyPr>
            <a:normAutofit fontScale="90000"/>
          </a:bodyPr>
          <a:lstStyle/>
          <a:p>
            <a:r>
              <a:rPr lang="pt-PT" sz="4900" dirty="0"/>
              <a:t>Exploração e Análise de Dados</a:t>
            </a:r>
            <a:br>
              <a:rPr lang="pt-PT" dirty="0"/>
            </a:br>
            <a:r>
              <a:rPr lang="pt-BR" sz="3600" dirty="0"/>
              <a:t>Dashboard 5 — Painel Global de KPIs</a:t>
            </a:r>
            <a:endParaRPr lang="pt-PT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B56834-6FDE-A957-039A-8ECF2DC84DEF}"/>
              </a:ext>
            </a:extLst>
          </p:cNvPr>
          <p:cNvSpPr/>
          <p:nvPr/>
        </p:nvSpPr>
        <p:spPr>
          <a:xfrm>
            <a:off x="9660835" y="2988365"/>
            <a:ext cx="2067339" cy="4273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Agente de Decisão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9CBD3-36D1-A467-CD96-29421CF6C22E}"/>
              </a:ext>
            </a:extLst>
          </p:cNvPr>
          <p:cNvSpPr txBox="1"/>
          <p:nvPr/>
        </p:nvSpPr>
        <p:spPr>
          <a:xfrm>
            <a:off x="9516717" y="3415748"/>
            <a:ext cx="235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Administradores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8488329-61DB-8964-12D6-A393B671F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09" y="1535637"/>
            <a:ext cx="8029581" cy="44988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4477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BBDE-ACC3-FB08-5E1E-A5D57E910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207008"/>
          </a:xfrm>
        </p:spPr>
        <p:txBody>
          <a:bodyPr/>
          <a:lstStyle/>
          <a:p>
            <a:r>
              <a:rPr lang="pt-PT" dirty="0"/>
              <a:t>Aplicação de </a:t>
            </a:r>
            <a:r>
              <a:rPr lang="pt-PT" dirty="0" err="1"/>
              <a:t>Clustering</a:t>
            </a:r>
            <a:endParaRPr lang="pt-PT" dirty="0"/>
          </a:p>
        </p:txBody>
      </p:sp>
      <p:pic>
        <p:nvPicPr>
          <p:cNvPr id="5" name="Picture 4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CC27A6B8-5BE5-EAC3-6FC8-7683FB7E2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471" y="3526205"/>
            <a:ext cx="4781552" cy="26204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 descr="A graph of a diagram&#10;&#10;AI-generated content may be incorrect.">
            <a:extLst>
              <a:ext uri="{FF2B5EF4-FFF2-40B4-BE49-F238E27FC236}">
                <a16:creationId xmlns:a16="http://schemas.microsoft.com/office/drawing/2014/main" id="{601AC4B0-C5BA-694F-4D68-CB9B12D87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0" y="1013461"/>
            <a:ext cx="4781552" cy="19126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1F7CDB-5AC7-4F57-F047-7C9F7BBAAD64}"/>
              </a:ext>
            </a:extLst>
          </p:cNvPr>
          <p:cNvSpPr txBox="1"/>
          <p:nvPr/>
        </p:nvSpPr>
        <p:spPr>
          <a:xfrm>
            <a:off x="6493666" y="1503313"/>
            <a:ext cx="2933798" cy="738664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400" dirty="0"/>
              <a:t>K=6 Representa um bom meio termo entre </a:t>
            </a:r>
            <a:r>
              <a:rPr lang="pt-PT" sz="1400" dirty="0" err="1"/>
              <a:t>silhouete</a:t>
            </a:r>
            <a:r>
              <a:rPr lang="pt-PT" sz="1400" dirty="0"/>
              <a:t> score e nº de segmentos</a:t>
            </a:r>
          </a:p>
        </p:txBody>
      </p:sp>
      <p:pic>
        <p:nvPicPr>
          <p:cNvPr id="10" name="Picture 9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1296C204-1A7C-F0D8-8CF2-6A4904342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310" y="3526205"/>
            <a:ext cx="4781552" cy="25945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1268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385C-CB95-1756-CAF5-04C1AE62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"/>
            <a:ext cx="10018713" cy="1066800"/>
          </a:xfrm>
        </p:spPr>
        <p:txBody>
          <a:bodyPr/>
          <a:lstStyle/>
          <a:p>
            <a:r>
              <a:rPr lang="pt-PT" dirty="0"/>
              <a:t>Perfis Identificados e Abordagens de Negócio</a:t>
            </a:r>
          </a:p>
        </p:txBody>
      </p:sp>
      <p:pic>
        <p:nvPicPr>
          <p:cNvPr id="5" name="Picture 4" descr="A diagram of a cluster of different shapes&#10;&#10;AI-generated content may be incorrect.">
            <a:extLst>
              <a:ext uri="{FF2B5EF4-FFF2-40B4-BE49-F238E27FC236}">
                <a16:creationId xmlns:a16="http://schemas.microsoft.com/office/drawing/2014/main" id="{B07DD170-4A60-6073-569B-9BE9A0E2A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33" y="3625398"/>
            <a:ext cx="4710691" cy="31564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 descr="A graph of different colored vertical lines&#10;&#10;AI-generated content may be incorrect.">
            <a:extLst>
              <a:ext uri="{FF2B5EF4-FFF2-40B4-BE49-F238E27FC236}">
                <a16:creationId xmlns:a16="http://schemas.microsoft.com/office/drawing/2014/main" id="{C2178846-7CEE-E3EF-FA1E-1E55070DA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33" y="901054"/>
            <a:ext cx="5272667" cy="260979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C9778FD-55D9-9DEF-A10F-A5EB1888F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678976"/>
              </p:ext>
            </p:extLst>
          </p:nvPr>
        </p:nvGraphicFramePr>
        <p:xfrm>
          <a:off x="6493666" y="1066801"/>
          <a:ext cx="5517359" cy="5114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659">
                  <a:extLst>
                    <a:ext uri="{9D8B030D-6E8A-4147-A177-3AD203B41FA5}">
                      <a16:colId xmlns:a16="http://schemas.microsoft.com/office/drawing/2014/main" val="2471780867"/>
                    </a:ext>
                  </a:extLst>
                </a:gridCol>
                <a:gridCol w="2440169">
                  <a:extLst>
                    <a:ext uri="{9D8B030D-6E8A-4147-A177-3AD203B41FA5}">
                      <a16:colId xmlns:a16="http://schemas.microsoft.com/office/drawing/2014/main" val="3778685117"/>
                    </a:ext>
                  </a:extLst>
                </a:gridCol>
                <a:gridCol w="2398531">
                  <a:extLst>
                    <a:ext uri="{9D8B030D-6E8A-4147-A177-3AD203B41FA5}">
                      <a16:colId xmlns:a16="http://schemas.microsoft.com/office/drawing/2014/main" val="2695749978"/>
                    </a:ext>
                  </a:extLst>
                </a:gridCol>
              </a:tblGrid>
              <a:tr h="594246">
                <a:tc>
                  <a:txBody>
                    <a:bodyPr/>
                    <a:lstStyle/>
                    <a:p>
                      <a:r>
                        <a:rPr lang="pt-PT" sz="1200" dirty="0"/>
                        <a:t>Cluster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Caracterização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Abordagem de Negócio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458613"/>
                  </a:ext>
                </a:extLst>
              </a:tr>
              <a:tr h="953825">
                <a:tc>
                  <a:txBody>
                    <a:bodyPr/>
                    <a:lstStyle/>
                    <a:p>
                      <a:r>
                        <a:rPr lang="pt-PT" sz="12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200" dirty="0"/>
                        <a:t>Perfil de clientes que preferem acompanhamento e orientação coletiva.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Oferta de mais tipo de aulas e reforço do acompanhamento técnico.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400951"/>
                  </a:ext>
                </a:extLst>
              </a:tr>
              <a:tr h="594246">
                <a:tc>
                  <a:txBody>
                    <a:bodyPr/>
                    <a:lstStyle/>
                    <a:p>
                      <a:r>
                        <a:rPr lang="pt-PT" sz="12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Clientes dedicados com hábitos consistentes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Aplicar campanhas de retenção e desafios de performance. Perfil atrativo.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8369319"/>
                  </a:ext>
                </a:extLst>
              </a:tr>
              <a:tr h="594246">
                <a:tc>
                  <a:txBody>
                    <a:bodyPr/>
                    <a:lstStyle/>
                    <a:p>
                      <a:r>
                        <a:rPr lang="pt-PT" sz="12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Clientes Iniciantes com excesso de peso a iniciar programas de emagrecimento. Poucas idas ao ginásio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Oferecer treinos personalizados e apoio nutricional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182870"/>
                  </a:ext>
                </a:extLst>
              </a:tr>
              <a:tr h="594246">
                <a:tc>
                  <a:txBody>
                    <a:bodyPr/>
                    <a:lstStyle/>
                    <a:p>
                      <a:r>
                        <a:rPr lang="pt-PT" sz="12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Cliente sénior com preferência por treinos.</a:t>
                      </a:r>
                      <a:endParaRPr lang="pt-P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Aplicar oferta de mais treinos e tentar incentivar à participação das aulas.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2089488"/>
                  </a:ext>
                </a:extLst>
              </a:tr>
              <a:tr h="594246">
                <a:tc>
                  <a:txBody>
                    <a:bodyPr/>
                    <a:lstStyle/>
                    <a:p>
                      <a:r>
                        <a:rPr lang="pt-PT" sz="12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Cliente Ideal. Participa em muitas atividades e demonstra uma satisfação positiva.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Valorizar estes clientes com programas de recompensa, acesso antecipado a novidades e ofertas VIP.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471900"/>
                  </a:ext>
                </a:extLst>
              </a:tr>
              <a:tr h="594246">
                <a:tc>
                  <a:txBody>
                    <a:bodyPr/>
                    <a:lstStyle/>
                    <a:p>
                      <a:r>
                        <a:rPr lang="pt-PT" sz="12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PT" sz="1200" dirty="0"/>
                        <a:t>Clientes pouco satisfeitos ou iniciantes com </a:t>
                      </a:r>
                      <a:r>
                        <a:rPr lang="pt-PT" sz="1200" dirty="0" err="1"/>
                        <a:t>engagement</a:t>
                      </a:r>
                      <a:r>
                        <a:rPr lang="pt-PT" sz="1200" dirty="0"/>
                        <a:t> reduzido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Aplicar estratégias de retenção, onboarding melhorado e apoio personalizado.</a:t>
                      </a:r>
                      <a:endParaRPr lang="pt-P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243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31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9656-030A-737F-8D55-36EA4FA2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304925"/>
          </a:xfrm>
        </p:spPr>
        <p:txBody>
          <a:bodyPr>
            <a:normAutofit fontScale="90000"/>
          </a:bodyPr>
          <a:lstStyle/>
          <a:p>
            <a:r>
              <a:rPr lang="pt-BR" dirty="0"/>
              <a:t>Personalização de Ofertas: Sistema de Recomendação</a:t>
            </a:r>
            <a:endParaRPr lang="pt-PT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D3A4A7E-EF26-97CB-FB43-8F76687D0279}"/>
              </a:ext>
            </a:extLst>
          </p:cNvPr>
          <p:cNvSpPr/>
          <p:nvPr/>
        </p:nvSpPr>
        <p:spPr>
          <a:xfrm>
            <a:off x="2019300" y="1304925"/>
            <a:ext cx="2514600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Abordagens Utilizadas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D43A68-E12C-5043-EDEE-3F3C733B75A5}"/>
              </a:ext>
            </a:extLst>
          </p:cNvPr>
          <p:cNvSpPr/>
          <p:nvPr/>
        </p:nvSpPr>
        <p:spPr>
          <a:xfrm>
            <a:off x="2019300" y="2369817"/>
            <a:ext cx="2514600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Content-Based</a:t>
            </a:r>
            <a:endParaRPr lang="pt-PT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029055-1E75-544F-55E7-85787976821D}"/>
              </a:ext>
            </a:extLst>
          </p:cNvPr>
          <p:cNvSpPr/>
          <p:nvPr/>
        </p:nvSpPr>
        <p:spPr>
          <a:xfrm>
            <a:off x="5581650" y="2274092"/>
            <a:ext cx="3390900" cy="5953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/>
              <a:t>Collaborative</a:t>
            </a:r>
            <a:r>
              <a:rPr lang="pt-PT" dirty="0"/>
              <a:t> </a:t>
            </a:r>
            <a:r>
              <a:rPr lang="pt-PT" dirty="0" err="1"/>
              <a:t>Filtering</a:t>
            </a:r>
            <a:r>
              <a:rPr lang="pt-PT" dirty="0"/>
              <a:t> + </a:t>
            </a:r>
            <a:r>
              <a:rPr lang="pt-PT" dirty="0" err="1"/>
              <a:t>Demographic</a:t>
            </a:r>
            <a:r>
              <a:rPr lang="pt-PT" dirty="0"/>
              <a:t>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BE5E3-C287-A0FE-E208-A39F33F7D628}"/>
              </a:ext>
            </a:extLst>
          </p:cNvPr>
          <p:cNvSpPr txBox="1"/>
          <p:nvPr/>
        </p:nvSpPr>
        <p:spPr>
          <a:xfrm>
            <a:off x="1714501" y="2750817"/>
            <a:ext cx="3190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Compara os perfis técnicos dos clientes com as características dos treinos/aulas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7DFCB-7A80-4612-6C86-4B0D930BC1F4}"/>
              </a:ext>
            </a:extLst>
          </p:cNvPr>
          <p:cNvSpPr txBox="1"/>
          <p:nvPr/>
        </p:nvSpPr>
        <p:spPr>
          <a:xfrm>
            <a:off x="5260177" y="2869405"/>
            <a:ext cx="40457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Recomendações com base em clientes semelhantes. Tem em conta perfis de comportamento e dados demográficos (</a:t>
            </a:r>
            <a:r>
              <a:rPr lang="pt-PT" sz="1400" dirty="0" err="1"/>
              <a:t>IMC,idade,profissão</a:t>
            </a:r>
            <a:r>
              <a:rPr lang="pt-PT" sz="1400" dirty="0"/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2A09E5-8057-1F09-2D58-F976822257AC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276600" y="1685925"/>
            <a:ext cx="0" cy="6838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BCBE3AF-213A-3533-D2E4-57711EAE307C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4982767" y="-20242"/>
            <a:ext cx="588167" cy="400050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1572AE-16FC-1141-E86B-7DA3CA188E09}"/>
              </a:ext>
            </a:extLst>
          </p:cNvPr>
          <p:cNvSpPr/>
          <p:nvPr/>
        </p:nvSpPr>
        <p:spPr>
          <a:xfrm>
            <a:off x="1714501" y="4900612"/>
            <a:ext cx="2557463" cy="35813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Construção dos Perfis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9C5FF3-02D8-ECE1-1EC4-8B1158D1429D}"/>
              </a:ext>
            </a:extLst>
          </p:cNvPr>
          <p:cNvSpPr/>
          <p:nvPr/>
        </p:nvSpPr>
        <p:spPr>
          <a:xfrm>
            <a:off x="5276850" y="4010025"/>
            <a:ext cx="4895850" cy="542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</a:rPr>
              <a:t>Dados provenientes das dimensões cliente, treino, aula e da tabela de factos das atividades.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B1FC6-6AC2-1477-8F47-4B31A06FFB30}"/>
              </a:ext>
            </a:extLst>
          </p:cNvPr>
          <p:cNvSpPr/>
          <p:nvPr/>
        </p:nvSpPr>
        <p:spPr>
          <a:xfrm>
            <a:off x="5276850" y="4808216"/>
            <a:ext cx="4895850" cy="542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</a:rPr>
              <a:t>Atributos normalizados e codificados com </a:t>
            </a:r>
            <a:r>
              <a:rPr lang="pt-PT" sz="1400" dirty="0" err="1">
                <a:solidFill>
                  <a:schemeClr val="tx1"/>
                </a:solidFill>
              </a:rPr>
              <a:t>one</a:t>
            </a:r>
            <a:r>
              <a:rPr lang="pt-PT" sz="1400" dirty="0">
                <a:solidFill>
                  <a:schemeClr val="tx1"/>
                </a:solidFill>
              </a:rPr>
              <a:t>-hot </a:t>
            </a:r>
            <a:r>
              <a:rPr lang="pt-PT" sz="1400" dirty="0" err="1">
                <a:solidFill>
                  <a:schemeClr val="tx1"/>
                </a:solidFill>
              </a:rPr>
              <a:t>encoding</a:t>
            </a:r>
            <a:endParaRPr lang="pt-PT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2AB72F-4656-80D5-75EB-85232F2A6826}"/>
              </a:ext>
            </a:extLst>
          </p:cNvPr>
          <p:cNvSpPr/>
          <p:nvPr/>
        </p:nvSpPr>
        <p:spPr>
          <a:xfrm>
            <a:off x="5276850" y="5606407"/>
            <a:ext cx="4895850" cy="5429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</a:rPr>
              <a:t>Atribuição de pesos aos atributos categóricos. Por exemplo, atribuímos mais peso ao tipo de treino para associar os mesmos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4790D35-8B28-1CAB-56FF-770F70DE780A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4271964" y="4281488"/>
            <a:ext cx="1004886" cy="79819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BAB9D1-CF4D-15D0-46B6-372DD279980A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4271964" y="5079679"/>
            <a:ext cx="10048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F6962CF-CD00-C5C2-33B0-35CEBCC2F784}"/>
              </a:ext>
            </a:extLst>
          </p:cNvPr>
          <p:cNvCxnSpPr>
            <a:stCxn id="17" idx="3"/>
            <a:endCxn id="20" idx="1"/>
          </p:cNvCxnSpPr>
          <p:nvPr/>
        </p:nvCxnSpPr>
        <p:spPr>
          <a:xfrm>
            <a:off x="4271964" y="5079679"/>
            <a:ext cx="1004886" cy="79819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661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CBCB-2A0F-7988-D406-9EF88C74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586" y="1"/>
            <a:ext cx="10018713" cy="1066800"/>
          </a:xfrm>
        </p:spPr>
        <p:txBody>
          <a:bodyPr/>
          <a:lstStyle/>
          <a:p>
            <a:r>
              <a:rPr lang="pt-PT" dirty="0"/>
              <a:t>Avaliação do Modelo e Resultados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932A7B-336D-4D80-4BA0-368C269AA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318" y="1552575"/>
            <a:ext cx="4724863" cy="381519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535791-AD18-0BD7-5C58-5DA6BAC7B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146915"/>
              </p:ext>
            </p:extLst>
          </p:nvPr>
        </p:nvGraphicFramePr>
        <p:xfrm>
          <a:off x="6487650" y="1066801"/>
          <a:ext cx="5111750" cy="15910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7145">
                  <a:extLst>
                    <a:ext uri="{9D8B030D-6E8A-4147-A177-3AD203B41FA5}">
                      <a16:colId xmlns:a16="http://schemas.microsoft.com/office/drawing/2014/main" val="1952021668"/>
                    </a:ext>
                  </a:extLst>
                </a:gridCol>
                <a:gridCol w="874794">
                  <a:extLst>
                    <a:ext uri="{9D8B030D-6E8A-4147-A177-3AD203B41FA5}">
                      <a16:colId xmlns:a16="http://schemas.microsoft.com/office/drawing/2014/main" val="1931683722"/>
                    </a:ext>
                  </a:extLst>
                </a:gridCol>
                <a:gridCol w="737778">
                  <a:extLst>
                    <a:ext uri="{9D8B030D-6E8A-4147-A177-3AD203B41FA5}">
                      <a16:colId xmlns:a16="http://schemas.microsoft.com/office/drawing/2014/main" val="89224563"/>
                    </a:ext>
                  </a:extLst>
                </a:gridCol>
                <a:gridCol w="748318">
                  <a:extLst>
                    <a:ext uri="{9D8B030D-6E8A-4147-A177-3AD203B41FA5}">
                      <a16:colId xmlns:a16="http://schemas.microsoft.com/office/drawing/2014/main" val="650171953"/>
                    </a:ext>
                  </a:extLst>
                </a:gridCol>
                <a:gridCol w="853715">
                  <a:extLst>
                    <a:ext uri="{9D8B030D-6E8A-4147-A177-3AD203B41FA5}">
                      <a16:colId xmlns:a16="http://schemas.microsoft.com/office/drawing/2014/main" val="37910900"/>
                    </a:ext>
                  </a:extLst>
                </a:gridCol>
              </a:tblGrid>
              <a:tr h="3333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 dirty="0">
                          <a:effectLst/>
                        </a:rPr>
                        <a:t>Modelo</a:t>
                      </a: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Precison@3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 dirty="0">
                          <a:effectLst/>
                        </a:rPr>
                        <a:t>Recall@3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MAP@3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MRR@3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831640"/>
                  </a:ext>
                </a:extLst>
              </a:tr>
              <a:tr h="3144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Content-Based Treinos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0.65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0.65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0.45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0.45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466130"/>
                  </a:ext>
                </a:extLst>
              </a:tr>
              <a:tr h="3144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Content-Based Aulas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0.90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0.90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0.69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0.69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7719061"/>
                  </a:ext>
                </a:extLst>
              </a:tr>
              <a:tr h="3144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Collaborative Híbrido Treinos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0.26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0.26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0.17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0.17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94100"/>
                  </a:ext>
                </a:extLst>
              </a:tr>
              <a:tr h="3144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Collaborative Híbridos Aulas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0.68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0.68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>
                          <a:effectLst/>
                        </a:rPr>
                        <a:t>0.45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buNone/>
                      </a:pPr>
                      <a:r>
                        <a:rPr lang="pt-PT" sz="900" dirty="0">
                          <a:effectLst/>
                        </a:rPr>
                        <a:t>0.45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357" marR="4835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315617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F465E8-BCF2-1F11-8A4A-43014E81E8B8}"/>
              </a:ext>
            </a:extLst>
          </p:cNvPr>
          <p:cNvSpPr/>
          <p:nvPr/>
        </p:nvSpPr>
        <p:spPr>
          <a:xfrm>
            <a:off x="7390937" y="2974396"/>
            <a:ext cx="3305175" cy="48577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Conclusões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2B4CC-D93B-C290-CAD8-FD53FD54422C}"/>
              </a:ext>
            </a:extLst>
          </p:cNvPr>
          <p:cNvSpPr txBox="1"/>
          <p:nvPr/>
        </p:nvSpPr>
        <p:spPr>
          <a:xfrm>
            <a:off x="6619875" y="3460171"/>
            <a:ext cx="47248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Melhor desempenho nos modelos baseados em conteúdo.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Desempenho reduzido nos modelos colaborativos deve-se possivelmente à escassez do histórico. Se tivéssemos dados de, por exemplo, um ano inteiro, seria mais eficiente.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Dados demográficos melhoraram o desempenho dos modelos colaborativos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3739890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C380-F97D-0209-8714-7BE10E6CA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276350"/>
          </a:xfrm>
        </p:spPr>
        <p:txBody>
          <a:bodyPr/>
          <a:lstStyle/>
          <a:p>
            <a:r>
              <a:rPr lang="pt-PT" dirty="0"/>
              <a:t>Conclusões do Projeto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FE6882-0829-96D6-7429-84013948975B}"/>
              </a:ext>
            </a:extLst>
          </p:cNvPr>
          <p:cNvSpPr/>
          <p:nvPr/>
        </p:nvSpPr>
        <p:spPr>
          <a:xfrm>
            <a:off x="1590675" y="1390650"/>
            <a:ext cx="2095500" cy="36195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Pontos Fortes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D37B78-07B9-D1B9-0D1D-AC5CB36F8DA1}"/>
              </a:ext>
            </a:extLst>
          </p:cNvPr>
          <p:cNvSpPr/>
          <p:nvPr/>
        </p:nvSpPr>
        <p:spPr>
          <a:xfrm>
            <a:off x="4276725" y="1390650"/>
            <a:ext cx="2095500" cy="361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Dificuldades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7CF43-23F7-7A2D-33E6-FAE7CF1E3F6B}"/>
              </a:ext>
            </a:extLst>
          </p:cNvPr>
          <p:cNvSpPr txBox="1"/>
          <p:nvPr/>
        </p:nvSpPr>
        <p:spPr>
          <a:xfrm>
            <a:off x="1214437" y="1935718"/>
            <a:ext cx="2847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Modelação Dimensional Robusta, seguindo Kimball e estruturada em estrela.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ETL Validado em 3 níveis, garantindo integridade e qualidade dos 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Dashboards Segmentados por Perfil, otimizando a decisão de diferentes stakeholders.</a:t>
            </a:r>
            <a:endParaRPr lang="pt-PT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1FFD6-052C-EC9F-0F7D-0851F277D66F}"/>
              </a:ext>
            </a:extLst>
          </p:cNvPr>
          <p:cNvSpPr txBox="1"/>
          <p:nvPr/>
        </p:nvSpPr>
        <p:spPr>
          <a:xfrm>
            <a:off x="4062413" y="1935718"/>
            <a:ext cx="26431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Definição inicial pouco clara, dificultando o povoamento posterior.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Cobertura analítica dos Instrutores podia ser mais detalhada.</a:t>
            </a:r>
            <a:endParaRPr lang="pt-PT" sz="1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E4C49F-BC75-D411-3FD2-507B6C24640E}"/>
              </a:ext>
            </a:extLst>
          </p:cNvPr>
          <p:cNvSpPr/>
          <p:nvPr/>
        </p:nvSpPr>
        <p:spPr>
          <a:xfrm>
            <a:off x="7948613" y="1390650"/>
            <a:ext cx="3028950" cy="542926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Perspetivas de Trabalho Futuro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98FF6-E811-18E1-886B-44D8A53FE4D6}"/>
              </a:ext>
            </a:extLst>
          </p:cNvPr>
          <p:cNvSpPr txBox="1"/>
          <p:nvPr/>
        </p:nvSpPr>
        <p:spPr>
          <a:xfrm>
            <a:off x="6981825" y="2094371"/>
            <a:ext cx="49625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Integração com IoT &amp; Wearables→ Dados fisiológicos em tempo real para recomendações mais precisas.</a:t>
            </a:r>
          </a:p>
          <a:p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Expansão para Nutrição e Bem-estar→ Visão holística da saúde dos clientes.</a:t>
            </a:r>
          </a:p>
          <a:p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Processamento em Tempo Real→ Alertas imediatos e monitorização dinâmica.</a:t>
            </a:r>
          </a:p>
          <a:p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Melhoria dos Algoritmos de Recomendação→ Aplicação de técnicas como Deep Learning.</a:t>
            </a:r>
          </a:p>
          <a:p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Self-Service BI→ Dashboards personalizáveis para gestores e instrutores.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116232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2E62207687444A83D3F5A757AA688" ma:contentTypeVersion="6" ma:contentTypeDescription="Criar um novo documento." ma:contentTypeScope="" ma:versionID="0af1fa33847204ca22160a0e7d217171">
  <xsd:schema xmlns:xsd="http://www.w3.org/2001/XMLSchema" xmlns:xs="http://www.w3.org/2001/XMLSchema" xmlns:p="http://schemas.microsoft.com/office/2006/metadata/properties" xmlns:ns3="cfbe3dbf-17e0-4254-8182-2f5e8f73ad97" targetNamespace="http://schemas.microsoft.com/office/2006/metadata/properties" ma:root="true" ma:fieldsID="15a9981a9c5e7bb0e35329e24967b140" ns3:_="">
    <xsd:import namespace="cfbe3dbf-17e0-4254-8182-2f5e8f73ad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be3dbf-17e0-4254-8182-2f5e8f73ad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be3dbf-17e0-4254-8182-2f5e8f73ad97" xsi:nil="true"/>
  </documentManagement>
</p:properties>
</file>

<file path=customXml/itemProps1.xml><?xml version="1.0" encoding="utf-8"?>
<ds:datastoreItem xmlns:ds="http://schemas.openxmlformats.org/officeDocument/2006/customXml" ds:itemID="{687B599C-7745-4915-87D4-7F50E96AA4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be3dbf-17e0-4254-8182-2f5e8f73ad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14149-041D-4B0E-B80F-AD0915D21A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0DFC95-C3D1-4E63-96F5-4B9DBF21450C}">
  <ds:schemaRefs>
    <ds:schemaRef ds:uri="http://schemas.openxmlformats.org/package/2006/metadata/core-properties"/>
    <ds:schemaRef ds:uri="http://schemas.microsoft.com/office/infopath/2007/PartnerControls"/>
    <ds:schemaRef ds:uri="cfbe3dbf-17e0-4254-8182-2f5e8f73ad97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549</TotalTime>
  <Words>959</Words>
  <Application>Microsoft Office PowerPoint</Application>
  <PresentationFormat>Widescreen</PresentationFormat>
  <Paragraphs>183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Corbel</vt:lpstr>
      <vt:lpstr>Courier New</vt:lpstr>
      <vt:lpstr>Parallax</vt:lpstr>
      <vt:lpstr>Conceção e Implementação de um Sistema para Suporte à Decisão</vt:lpstr>
      <vt:lpstr>Contexto e Motivação do Projeto</vt:lpstr>
      <vt:lpstr>Levantamento de Requisitos</vt:lpstr>
      <vt:lpstr>Modelação Dimensional</vt:lpstr>
      <vt:lpstr>Modelação Dimensional</vt:lpstr>
      <vt:lpstr>Arquitetura Geral do Sistema</vt:lpstr>
      <vt:lpstr>Povoamento de Dados- Data Maps</vt:lpstr>
      <vt:lpstr>Povoamento de Dados- Data Maps</vt:lpstr>
      <vt:lpstr>Povoamento de Dados- Data Maps</vt:lpstr>
      <vt:lpstr>Povoamento de Dados- Data Maps</vt:lpstr>
      <vt:lpstr>Povoamento de Dados- Data Maps</vt:lpstr>
      <vt:lpstr>Modelação do Sistema de Povoamento</vt:lpstr>
      <vt:lpstr>Exploração e Análise de Dados Dashboard 1 — Utilização e Ocupação</vt:lpstr>
      <vt:lpstr>Exploração e Análise de Dados Dashboard 2 — Clientes e Aderência</vt:lpstr>
      <vt:lpstr>Exploração e Análise de Dados Dashboard 3 — Campanhas e Marketing</vt:lpstr>
      <vt:lpstr>Exploração e Análise de Dados Dashboard 4 — Desempenho de Instrutores</vt:lpstr>
      <vt:lpstr>Exploração e Análise de Dados Dashboard 5 — Painel Global de KPIs</vt:lpstr>
      <vt:lpstr>Aplicação de Clustering</vt:lpstr>
      <vt:lpstr>Perfis Identificados e Abordagens de Negócio</vt:lpstr>
      <vt:lpstr>Personalização de Ofertas: Sistema de Recomendação</vt:lpstr>
      <vt:lpstr>Avaliação do Modelo e Resultados</vt:lpstr>
      <vt:lpstr>Conclusões do Projeto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Afonso Miguel Rodrigues Magalhães</dc:creator>
  <cp:lastModifiedBy>Afonso Miguel Rodrigues Magalhães</cp:lastModifiedBy>
  <cp:revision>2</cp:revision>
  <dcterms:created xsi:type="dcterms:W3CDTF">2025-05-19T21:37:25Z</dcterms:created>
  <dcterms:modified xsi:type="dcterms:W3CDTF">2025-05-20T18:34:54Z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0x010100B082E62207687444A83D3F5A757AA688</vt:lpwstr>
  </property>
</Properties>
</file>